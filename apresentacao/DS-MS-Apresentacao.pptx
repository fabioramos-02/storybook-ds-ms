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437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62354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4F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5832" y="0"/>
            <a:ext cx="2103120" cy="6858000"/>
          </a:xfrm>
          <a:prstGeom prst="rect">
            <a:avLst/>
          </a:prstGeom>
          <a:solidFill>
            <a:srgbClr val="002F5F"/>
          </a:solidFill>
          <a:ln/>
        </p:spPr>
      </p:sp>
      <p:sp>
        <p:nvSpPr>
          <p:cNvPr id="3" name="Shape 1"/>
          <p:cNvSpPr/>
          <p:nvPr/>
        </p:nvSpPr>
        <p:spPr>
          <a:xfrm>
            <a:off x="10085832" y="0"/>
            <a:ext cx="146304" cy="6858000"/>
          </a:xfrm>
          <a:prstGeom prst="rect">
            <a:avLst/>
          </a:prstGeom>
          <a:solidFill>
            <a:srgbClr val="CCDCEC"/>
          </a:solidFill>
          <a:ln/>
        </p:spPr>
      </p:sp>
      <p:pic>
        <p:nvPicPr>
          <p:cNvPr id="4" name="Image 0" descr="C:\Users\Fabio\Documents\SETDIG\2026\projetos\DS-MS Design System\apresentacao\ds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1828800" cy="51843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2148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kern="0" spc="200" dirty="0">
                <a:solidFill>
                  <a:srgbClr val="CCDCE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SGD · SETDIG   |   DS MS.GOV v2.0.0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77240" y="2560320"/>
            <a:ext cx="8961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Design System MS:</a:t>
            </a:r>
            <a:endParaRPr lang="en-US" sz="4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 Figma ao código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777240" y="44348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CCDCE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Como escalar a biblioteca de componentes para todos os times do Estado — PHP, Python e JS.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772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DCE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Fabio Ramos · SETDIG · junho de 2026 · pacote já publicado no npm</a:t>
            </a:r>
            <a:endParaRPr lang="en-US" sz="1200" dirty="0"/>
          </a:p>
        </p:txBody>
      </p:sp>
      <p:pic>
        <p:nvPicPr>
          <p:cNvPr id="9" name="Image 1" descr="C:\Users\Fabio\Documents\SETDIG\2026\projetos\DS-MS Design System\apresentacao\setdig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5872" y="5989320"/>
            <a:ext cx="1371600" cy="319571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4F9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que já temos hoje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0789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DS MS.GOV v2.0.0 — maduro no design, mantido pela SGD/SETDIG.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1325880"/>
          </a:xfrm>
          <a:prstGeom prst="rect">
            <a:avLst/>
          </a:prstGeom>
          <a:solidFill>
            <a:srgbClr val="F6F8FB"/>
          </a:solidFill>
          <a:ln w="12700">
            <a:solidFill>
              <a:srgbClr val="D4D7D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9476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62432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componentes documentados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83280" y="1783080"/>
            <a:ext cx="2606040" cy="1325880"/>
          </a:xfrm>
          <a:prstGeom prst="rect">
            <a:avLst/>
          </a:prstGeom>
          <a:solidFill>
            <a:srgbClr val="F6F8FB"/>
          </a:solidFill>
          <a:ln w="12700">
            <a:solidFill>
              <a:srgbClr val="D4D7D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66160" y="19476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35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62432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sites construídos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337560"/>
            <a:ext cx="2606040" cy="1325880"/>
          </a:xfrm>
          <a:prstGeom prst="rect">
            <a:avLst/>
          </a:prstGeom>
          <a:solidFill>
            <a:srgbClr val="F6F8FB"/>
          </a:solidFill>
          <a:ln w="12700">
            <a:solidFill>
              <a:srgbClr val="D4D7D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31520" y="350215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731520" y="41788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templates de página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83280" y="3337560"/>
            <a:ext cx="2606040" cy="1325880"/>
          </a:xfrm>
          <a:prstGeom prst="rect">
            <a:avLst/>
          </a:prstGeom>
          <a:solidFill>
            <a:srgbClr val="F6F8FB"/>
          </a:solidFill>
          <a:ln w="12700">
            <a:solidFill>
              <a:srgbClr val="D4D7D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566160" y="350215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AAA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3566160" y="4178808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nível WCAG (acessibilidade)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54496" y="1728216"/>
            <a:ext cx="5230368" cy="2977286"/>
          </a:xfrm>
          <a:prstGeom prst="rect">
            <a:avLst/>
          </a:prstGeom>
          <a:solidFill>
            <a:srgbClr val="FFFFFF"/>
          </a:solidFill>
          <a:ln w="12700">
            <a:solidFill>
              <a:srgbClr val="D4D7D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18" name="Image 0" descr="C:\Users\Fabio\Documents\SETDIG\2026\projetos\DS-MS Design System\apresentacao\home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783080"/>
            <a:ext cx="5120640" cy="286755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6309360" y="472379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designsystem.ms.gov.br — documentação pública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548640" y="57607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Base sólida. O problema não é o design — é como ele chega até o desenvolvedor.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SETDIG — Secretaria-Executiva de Transformação Digital · Governo de MS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02 / 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A1E2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gargalo: o design não vira código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37376" y="1179576"/>
            <a:ext cx="5138928" cy="3730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7D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5" name="Image 0" descr="C:\Users\Fabio\Documents\SETDIG\2026\projetos\DS-MS Design System\apresentacao\header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234440"/>
            <a:ext cx="5029200" cy="36210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92240" y="492861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Página do componente “Header”: anatomia em imagens e tabelas — nenhum trecho de código.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594360" y="1408176"/>
            <a:ext cx="256032" cy="256032"/>
          </a:xfrm>
          <a:prstGeom prst="ellipse">
            <a:avLst/>
          </a:prstGeom>
          <a:solidFill>
            <a:srgbClr val="DA1E28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" y="138988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!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13258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documentação mostra imagens, não código pronto para usar.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94360" y="2322576"/>
            <a:ext cx="256032" cy="256032"/>
          </a:xfrm>
          <a:prstGeom prst="ellipse">
            <a:avLst/>
          </a:prstGeom>
          <a:solidFill>
            <a:srgbClr val="DA1E28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230428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!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05840" y="22402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Cada time (PHP, Python, JS) reimplementa o componente do zero a partir do Figma.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594360" y="3236976"/>
            <a:ext cx="256032" cy="256032"/>
          </a:xfrm>
          <a:prstGeom prst="ellipse">
            <a:avLst/>
          </a:prstGeom>
          <a:solidFill>
            <a:srgbClr val="DA1E28"/>
          </a:solidFill>
          <a:ln/>
        </p:spPr>
      </p:sp>
      <p:sp>
        <p:nvSpPr>
          <p:cNvPr id="14" name="Text 11"/>
          <p:cNvSpPr/>
          <p:nvPr/>
        </p:nvSpPr>
        <p:spPr>
          <a:xfrm>
            <a:off x="594360" y="321868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!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005840" y="31546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Resultado: divergência visual (drift), retrabalho e acessibilidade inconsistente.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594360" y="4151376"/>
            <a:ext cx="256032" cy="256032"/>
          </a:xfrm>
          <a:prstGeom prst="ellipse">
            <a:avLst/>
          </a:prstGeom>
          <a:solidFill>
            <a:srgbClr val="DA1E28"/>
          </a:solidFill>
          <a:ln/>
        </p:spPr>
      </p:sp>
      <p:sp>
        <p:nvSpPr>
          <p:cNvPr id="17" name="Text 14"/>
          <p:cNvSpPr/>
          <p:nvPr/>
        </p:nvSpPr>
        <p:spPr>
          <a:xfrm>
            <a:off x="594360" y="4133088"/>
            <a:ext cx="256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!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005840" y="40690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Impossível corrigir “num lugar só” — passar o Figma para o dev não escala.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48640" y="5394960"/>
            <a:ext cx="5669280" cy="868680"/>
          </a:xfrm>
          <a:prstGeom prst="rect">
            <a:avLst/>
          </a:prstGeom>
          <a:solidFill>
            <a:srgbClr val="F6D3D5"/>
          </a:solidFill>
          <a:ln/>
        </p:spPr>
      </p:sp>
      <p:sp>
        <p:nvSpPr>
          <p:cNvPr id="20" name="Shape 17"/>
          <p:cNvSpPr/>
          <p:nvPr/>
        </p:nvSpPr>
        <p:spPr>
          <a:xfrm>
            <a:off x="548640" y="5394960"/>
            <a:ext cx="91440" cy="868680"/>
          </a:xfrm>
          <a:prstGeom prst="rect">
            <a:avLst/>
          </a:prstGeom>
          <a:solidFill>
            <a:srgbClr val="DA1E28"/>
          </a:solidFill>
          <a:ln/>
        </p:spPr>
      </p:sp>
      <p:sp>
        <p:nvSpPr>
          <p:cNvPr id="21" name="Text 18"/>
          <p:cNvSpPr/>
          <p:nvPr/>
        </p:nvSpPr>
        <p:spPr>
          <a:xfrm>
            <a:off x="777240" y="53949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F16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Risco institucional: </a:t>
            </a:r>
            <a:r>
              <a:rPr lang="en-US" sz="1300" dirty="0">
                <a:solidFill>
                  <a:srgbClr val="7F16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identidade visual do Estado se fragmenta entre os sistemas.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SETDIG — Secretaria-Executiva de Transformação Digital · Governo de MS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 / 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A1E2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Não é teoria: já está acontecendo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060704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Inspeção real (DOM/CSS) do site da SEGOV — outra secretaria do mesmo governo, fora do DS-MS oficial.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21208" y="1554480"/>
            <a:ext cx="3337560" cy="2120265"/>
          </a:xfrm>
          <a:prstGeom prst="rect">
            <a:avLst/>
          </a:prstGeom>
          <a:solidFill>
            <a:srgbClr val="FFFFFF"/>
          </a:solidFill>
          <a:ln w="12700">
            <a:solidFill>
              <a:srgbClr val="D4D7D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6" name="Image 0" descr="C:\Users\Fabio\Documents\SETDIG\2026\projetos\DS-MS Design System\docs\assets\segov-codesul\segov-codesul-aber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600200"/>
            <a:ext cx="3246120" cy="202882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3683889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Acordeão aberto (segov.ms.gov.br)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21208" y="3994785"/>
            <a:ext cx="3337560" cy="2120265"/>
          </a:xfrm>
          <a:prstGeom prst="rect">
            <a:avLst/>
          </a:prstGeom>
          <a:solidFill>
            <a:srgbClr val="FFFFFF"/>
          </a:solidFill>
          <a:ln w="12700">
            <a:solidFill>
              <a:srgbClr val="D4D7D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9" name="Image 1" descr="C:\Users\Fabio\Documents\SETDIG\2026\projetos\DS-MS Design System\docs\assets\segov-codesul\segov-drop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4040505"/>
            <a:ext cx="3246120" cy="202882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66928" y="612419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Mega-menu “Institucional” — padrão sem equivalente no DS-MS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160520" y="1627632"/>
            <a:ext cx="201168" cy="201168"/>
          </a:xfrm>
          <a:prstGeom prst="ellipse">
            <a:avLst/>
          </a:prstGeom>
          <a:solidFill>
            <a:srgbClr val="198038"/>
          </a:solidFill>
          <a:ln/>
        </p:spPr>
      </p:sp>
      <p:sp>
        <p:nvSpPr>
          <p:cNvPr id="12" name="Text 8"/>
          <p:cNvSpPr/>
          <p:nvPr/>
        </p:nvSpPr>
        <p:spPr>
          <a:xfrm>
            <a:off x="4480560" y="1545336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Cor certa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480560" y="1874520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Faixa e acordeão usam #004F9F — exatamente o nosso token primário.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160520" y="2542032"/>
            <a:ext cx="201168" cy="201168"/>
          </a:xfrm>
          <a:prstGeom prst="ellipse">
            <a:avLst/>
          </a:prstGeom>
          <a:solidFill>
            <a:srgbClr val="DA1E28"/>
          </a:solidFill>
          <a:ln/>
        </p:spPr>
      </p:sp>
      <p:sp>
        <p:nvSpPr>
          <p:cNvPr id="15" name="Text 11"/>
          <p:cNvSpPr/>
          <p:nvPr/>
        </p:nvSpPr>
        <p:spPr>
          <a:xfrm>
            <a:off x="4480560" y="2459736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Falha de teclado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480560" y="2788920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Acordeão tem tabIndex="-1": impossível abrir navegando só com Tab.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4160520" y="3456432"/>
            <a:ext cx="201168" cy="201168"/>
          </a:xfrm>
          <a:prstGeom prst="ellipse">
            <a:avLst/>
          </a:prstGeom>
          <a:solidFill>
            <a:srgbClr val="DA1E28"/>
          </a:solidFill>
          <a:ln/>
        </p:spPr>
      </p:sp>
      <p:sp>
        <p:nvSpPr>
          <p:cNvPr id="18" name="Text 14"/>
          <p:cNvSpPr/>
          <p:nvPr/>
        </p:nvSpPr>
        <p:spPr>
          <a:xfrm>
            <a:off x="4480560" y="3374136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Falha de leitor de tela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480560" y="3703320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Sem role, aria-expanded ou aria-controls — leitor de tela não anuncia nada.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4160520" y="4370832"/>
            <a:ext cx="201168" cy="201168"/>
          </a:xfrm>
          <a:prstGeom prst="ellipse">
            <a:avLst/>
          </a:prstGeom>
          <a:solidFill>
            <a:srgbClr val="DA1E28"/>
          </a:solidFill>
          <a:ln/>
        </p:spPr>
      </p:sp>
      <p:sp>
        <p:nvSpPr>
          <p:cNvPr id="21" name="Text 17"/>
          <p:cNvSpPr/>
          <p:nvPr/>
        </p:nvSpPr>
        <p:spPr>
          <a:xfrm>
            <a:off x="4480560" y="4288536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Tipografia divergente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4480560" y="4617720"/>
            <a:ext cx="7178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Usa a fonte padrão do sistema, não Open Sans/Roboto da marca.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4160520" y="5349240"/>
            <a:ext cx="7498080" cy="914400"/>
          </a:xfrm>
          <a:prstGeom prst="rect">
            <a:avLst/>
          </a:prstGeom>
          <a:solidFill>
            <a:srgbClr val="F6D3D5"/>
          </a:solidFill>
          <a:ln/>
        </p:spPr>
      </p:sp>
      <p:sp>
        <p:nvSpPr>
          <p:cNvPr id="24" name="Shape 20"/>
          <p:cNvSpPr/>
          <p:nvPr/>
        </p:nvSpPr>
        <p:spPr>
          <a:xfrm>
            <a:off x="4160520" y="5349240"/>
            <a:ext cx="91440" cy="914400"/>
          </a:xfrm>
          <a:prstGeom prst="rect">
            <a:avLst/>
          </a:prstGeom>
          <a:solidFill>
            <a:srgbClr val="DA1E28"/>
          </a:solidFill>
          <a:ln/>
        </p:spPr>
      </p:sp>
      <p:sp>
        <p:nvSpPr>
          <p:cNvPr id="25" name="Text 21"/>
          <p:cNvSpPr/>
          <p:nvPr/>
        </p:nvSpPr>
        <p:spPr>
          <a:xfrm>
            <a:off x="4389120" y="534924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7F16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Argumento de negócio: </a:t>
            </a:r>
            <a:r>
              <a:rPr lang="en-US" sz="1250" dirty="0">
                <a:solidFill>
                  <a:srgbClr val="7F161A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publicar o pacote não é só padronizar visual — é corrigir falhas de acessibilidade reais, hoje, em produção, em outro órgão do mesmo Estado.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SETDIG — Secretaria-Executiva de Transformação Digital · Governo de MS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04 / 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4F9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 solução: uma fonte única que gera código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542032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12700">
            <a:solidFill>
              <a:srgbClr val="D4D7D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673352"/>
            <a:ext cx="2322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Figma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313432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Tokens Studio → JSON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090672" y="1417320"/>
            <a:ext cx="384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›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474720" y="1417320"/>
            <a:ext cx="2542032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12700">
            <a:solidFill>
              <a:srgbClr val="D4D7D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584448" y="1673352"/>
            <a:ext cx="2322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Style Dictionary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584448" y="2313432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gera automaticamente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016752" y="1417320"/>
            <a:ext cx="384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›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400800" y="1417320"/>
            <a:ext cx="2542032" cy="1325880"/>
          </a:xfrm>
          <a:prstGeom prst="roundRect">
            <a:avLst>
              <a:gd name="adj" fmla="val 5517"/>
            </a:avLst>
          </a:prstGeom>
          <a:solidFill>
            <a:srgbClr val="004F9F"/>
          </a:solidFill>
          <a:ln w="12700">
            <a:solidFill>
              <a:srgbClr val="004F9F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10528" y="1673352"/>
            <a:ext cx="2322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CSS · SCSS · JS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PHP · Python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10528" y="2313432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CCDCE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uma saída por stack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942832" y="1417320"/>
            <a:ext cx="38404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›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9326880" y="1417320"/>
            <a:ext cx="2542032" cy="1325880"/>
          </a:xfrm>
          <a:prstGeom prst="roundRect">
            <a:avLst>
              <a:gd name="adj" fmla="val 5517"/>
            </a:avLst>
          </a:prstGeom>
          <a:solidFill>
            <a:srgbClr val="F6F8FB"/>
          </a:solidFill>
          <a:ln w="12700">
            <a:solidFill>
              <a:srgbClr val="D4D7D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36608" y="1673352"/>
            <a:ext cx="23225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Storybook + npm/CDN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436608" y="2313432"/>
            <a:ext cx="23225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 viva + entrega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246120"/>
            <a:ext cx="35661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7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3246120"/>
            <a:ext cx="3566160" cy="91440"/>
          </a:xfrm>
          <a:prstGeom prst="rect">
            <a:avLst/>
          </a:prstGeom>
          <a:solidFill>
            <a:srgbClr val="004F9F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502152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Multi-stack de verdade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49808" y="3904488"/>
            <a:ext cx="3163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Os tokens viram CSS, SCSS, JS, PHP e Python a partir de um único arquivo.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389120" y="3246120"/>
            <a:ext cx="35661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7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0" y="3246120"/>
            <a:ext cx="3566160" cy="91440"/>
          </a:xfrm>
          <a:prstGeom prst="rect">
            <a:avLst/>
          </a:prstGeom>
          <a:solidFill>
            <a:srgbClr val="004F9F"/>
          </a:solidFill>
          <a:ln/>
        </p:spPr>
      </p:sp>
      <p:sp>
        <p:nvSpPr>
          <p:cNvPr id="25" name="Text 23"/>
          <p:cNvSpPr/>
          <p:nvPr/>
        </p:nvSpPr>
        <p:spPr>
          <a:xfrm>
            <a:off x="4590288" y="3502152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Componentes híbridos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590288" y="3904488"/>
            <a:ext cx="3163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Classe CSS+HTML para o grosso; Web Components (&lt;ms-*&gt;) nos interativos.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8229600" y="3246120"/>
            <a:ext cx="356616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7D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29600" y="3246120"/>
            <a:ext cx="3566160" cy="91440"/>
          </a:xfrm>
          <a:prstGeom prst="rect">
            <a:avLst/>
          </a:prstGeom>
          <a:solidFill>
            <a:srgbClr val="004F9F"/>
          </a:solidFill>
          <a:ln/>
        </p:spPr>
      </p:sp>
      <p:sp>
        <p:nvSpPr>
          <p:cNvPr id="29" name="Text 27"/>
          <p:cNvSpPr/>
          <p:nvPr/>
        </p:nvSpPr>
        <p:spPr>
          <a:xfrm>
            <a:off x="8430768" y="3502152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Documentação viva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430768" y="3904488"/>
            <a:ext cx="3163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Storybook substitui as imagens; cada componente traz o código por linguagem.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5120640"/>
            <a:ext cx="11091672" cy="868680"/>
          </a:xfrm>
          <a:prstGeom prst="rect">
            <a:avLst/>
          </a:prstGeom>
          <a:solidFill>
            <a:srgbClr val="E2F1E6"/>
          </a:solidFill>
          <a:ln/>
        </p:spPr>
      </p:sp>
      <p:sp>
        <p:nvSpPr>
          <p:cNvPr id="32" name="Shape 30"/>
          <p:cNvSpPr/>
          <p:nvPr/>
        </p:nvSpPr>
        <p:spPr>
          <a:xfrm>
            <a:off x="548640" y="5120640"/>
            <a:ext cx="91440" cy="868680"/>
          </a:xfrm>
          <a:prstGeom prst="rect">
            <a:avLst/>
          </a:prstGeom>
          <a:solidFill>
            <a:srgbClr val="198038"/>
          </a:solidFill>
          <a:ln/>
        </p:spPr>
      </p:sp>
      <p:sp>
        <p:nvSpPr>
          <p:cNvPr id="33" name="Text 31"/>
          <p:cNvSpPr/>
          <p:nvPr/>
        </p:nvSpPr>
        <p:spPr>
          <a:xfrm>
            <a:off x="777240" y="51206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8210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Já não é só prova de conceito: </a:t>
            </a:r>
            <a:r>
              <a:rPr lang="en-US" sz="1350" dirty="0">
                <a:solidFill>
                  <a:srgbClr val="08210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componentes implementados, Web Component próprio e o pacote já publicado de verdade (próximo slide).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SETDIG — Secretaria-Executiva de Transformação Digital · Governo de MS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05 / 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4F9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CDCE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Já está no 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66928" y="1143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CDCE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Publicado e funcionando — não é mockup, é o link real.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520440" cy="1143000"/>
          </a:xfrm>
          <a:prstGeom prst="rect">
            <a:avLst/>
          </a:prstGeom>
          <a:solidFill>
            <a:srgbClr val="002F5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0136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/ 41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CDCE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componentes já no pacote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691640"/>
            <a:ext cx="3520440" cy="1143000"/>
          </a:xfrm>
          <a:prstGeom prst="rect">
            <a:avLst/>
          </a:prstGeom>
          <a:solidFill>
            <a:srgbClr val="002F5F"/>
          </a:solidFill>
          <a:ln/>
        </p:spPr>
      </p:sp>
      <p:sp>
        <p:nvSpPr>
          <p:cNvPr id="9" name="Text 7"/>
          <p:cNvSpPr/>
          <p:nvPr/>
        </p:nvSpPr>
        <p:spPr>
          <a:xfrm>
            <a:off x="4480560" y="180136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R$ 0/mês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480560" y="23774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CDCE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custo de infraestrutura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691640"/>
            <a:ext cx="3520440" cy="1143000"/>
          </a:xfrm>
          <a:prstGeom prst="rect">
            <a:avLst/>
          </a:prstGeom>
          <a:solidFill>
            <a:srgbClr val="002F5F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0" y="1801368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0.1.0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8229600" y="23774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CCDCE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primeira versão publicada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108960"/>
            <a:ext cx="11091672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3108960"/>
            <a:ext cx="91440" cy="868680"/>
          </a:xfrm>
          <a:prstGeom prst="rect">
            <a:avLst/>
          </a:prstGeom>
          <a:solidFill>
            <a:srgbClr val="198038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21868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Pacote npm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356616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npmjs.com/package/@design-system-ms/ds-sis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840480" y="321868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@design-system-ms/ds-sis instalável via npm i, hoje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114800"/>
            <a:ext cx="11091672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4114800"/>
            <a:ext cx="91440" cy="868680"/>
          </a:xfrm>
          <a:prstGeom prst="rect">
            <a:avLst/>
          </a:prstGeom>
          <a:solidFill>
            <a:srgbClr val="19803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Documentação viva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22960" y="457200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fabioramos-02.github.io/DS-MS-Design-System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840480" y="42245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Storybook publicado via GitHub Pages — substitui as imagens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11091672" cy="8686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5120640"/>
            <a:ext cx="91440" cy="868680"/>
          </a:xfrm>
          <a:prstGeom prst="rect">
            <a:avLst/>
          </a:prstGeom>
          <a:solidFill>
            <a:srgbClr val="198038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52303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Repositório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22960" y="5577840"/>
            <a:ext cx="8961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github.com/fabioramos-02/DS-MS-Design-System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3840480" y="52303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Código aberto, CI automático a cada push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CDCE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SETDIG — Secretaria-Executiva de Transformação Digital · Governo de MS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CCDCE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06 / 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4F9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Próximos passos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94360" y="1417320"/>
            <a:ext cx="502920" cy="502920"/>
          </a:xfrm>
          <a:prstGeom prst="ellipse">
            <a:avLst/>
          </a:prstGeom>
          <a:solidFill>
            <a:srgbClr val="004F9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28016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Tokens do Figma oficial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719072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Hoje os tokens são transcritos à mão; falta o export real via Tokens Studio.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" y="2377440"/>
            <a:ext cx="502920" cy="502920"/>
          </a:xfrm>
          <a:prstGeom prst="ellipse">
            <a:avLst/>
          </a:prstGeom>
          <a:solidFill>
            <a:srgbClr val="004F9F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280160" y="2331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31 componentes restantes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80160" y="2679192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Accordion, Breadcrumb, Dropdown, Menu, Table e outros — exigem acesso ao Figma.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4360" y="3337560"/>
            <a:ext cx="502920" cy="502920"/>
          </a:xfrm>
          <a:prstGeom prst="ellipse">
            <a:avLst/>
          </a:prstGeom>
          <a:solidFill>
            <a:srgbClr val="004F9F"/>
          </a:solidFill>
          <a:ln/>
        </p:spPr>
      </p:sp>
      <p:sp>
        <p:nvSpPr>
          <p:cNvPr id="13" name="Text 11"/>
          <p:cNvSpPr/>
          <p:nvPr/>
        </p:nvSpPr>
        <p:spPr>
          <a:xfrm>
            <a:off x="594360" y="3337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280160" y="3291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Gate de acessibilidade automático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80160" y="3639312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CI já builda; falta ligar axe-core como bloqueio de PR.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" y="4297680"/>
            <a:ext cx="502920" cy="502920"/>
          </a:xfrm>
          <a:prstGeom prst="ellipse">
            <a:avLst/>
          </a:prstGeom>
          <a:solidFill>
            <a:srgbClr val="004F9F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28016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Aval para virar o site oficial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80160" y="4599432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Storybook publicado pode substituir designsystem.ms.gov.br.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49440" y="1417320"/>
            <a:ext cx="4709160" cy="3383280"/>
          </a:xfrm>
          <a:prstGeom prst="rect">
            <a:avLst/>
          </a:prstGeom>
          <a:solidFill>
            <a:srgbClr val="F6F8FB"/>
          </a:solidFill>
          <a:ln w="12700">
            <a:solidFill>
              <a:srgbClr val="D4D7D8"/>
            </a:solidFill>
            <a:prstDash val="solid"/>
          </a:ln>
          <a:effectLst>
            <a:outerShdw blurRad="88900" dist="38100" dir="81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949440" y="1417320"/>
            <a:ext cx="4709160" cy="109728"/>
          </a:xfrm>
          <a:prstGeom prst="rect">
            <a:avLst/>
          </a:prstGeom>
          <a:solidFill>
            <a:srgbClr val="004F9F"/>
          </a:solidFill>
          <a:ln/>
        </p:spPr>
      </p:sp>
      <p:sp>
        <p:nvSpPr>
          <p:cNvPr id="22" name="Text 20"/>
          <p:cNvSpPr/>
          <p:nvPr/>
        </p:nvSpPr>
        <p:spPr>
          <a:xfrm>
            <a:off x="7178040" y="1645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Já não precisamos pedir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78040" y="21031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Orçamento de infraestrutura — está em R$ 0/mês.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Aprovar tecnologia — Storybook/npm já validados em produção.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178040" y="32461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4F9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 que precisamos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78040" y="37033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Acesso ao Figma oficial do DS-MS (Tokens Studio).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12A31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Aval para evoluir o pacote em piloto oficial da SETDIG.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48640" y="5486400"/>
            <a:ext cx="11091672" cy="640080"/>
          </a:xfrm>
          <a:prstGeom prst="rect">
            <a:avLst/>
          </a:prstGeom>
          <a:solidFill>
            <a:srgbClr val="004F9F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54864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i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Um passo pequeno agora evita um gargalo grande depois.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SETDIG — Secretaria-Executiva de Transformação Digital · Governo de MS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64240" y="64465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45D64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07 / 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749</Words>
  <Application>Microsoft Office PowerPoint</Application>
  <PresentationFormat>Personalizar</PresentationFormat>
  <Paragraphs>117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1" baseType="lpstr">
      <vt:lpstr>Arial</vt:lpstr>
      <vt:lpstr>Calibri</vt:lpstr>
      <vt:lpstr>Open Sans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SETDIG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System MS — do Figma ao código</dc:title>
  <dc:subject>PptxGenJS Presentation</dc:subject>
  <dc:creator>Fabio Ramos</dc:creator>
  <cp:lastModifiedBy>Fabio Ramos</cp:lastModifiedBy>
  <cp:revision>2</cp:revision>
  <dcterms:created xsi:type="dcterms:W3CDTF">2026-06-20T18:40:17Z</dcterms:created>
  <dcterms:modified xsi:type="dcterms:W3CDTF">2026-06-20T18:55:58Z</dcterms:modified>
</cp:coreProperties>
</file>